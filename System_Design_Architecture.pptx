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498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System Design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</a:rPr>
              <a:t>Voice to ATS-Optimized Resume Maker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3566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ECF0F1"/>
                </a:solidFill>
              </a:rPr>
              <a:t>Detailed Architecture &amp; Data Flows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3E50"/>
                </a:solidFill>
              </a:rPr>
              <a:t>3-Tier Architecture Overview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371600" y="1097280"/>
            <a:ext cx="6400800" cy="1097280"/>
          </a:xfrm>
          <a:prstGeom prst="rect">
            <a:avLst/>
          </a:prstGeom>
          <a:solidFill>
            <a:srgbClr val="3498DB"/>
          </a:solidFill>
          <a:ln w="38100">
            <a:solidFill>
              <a:srgbClr val="2980B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0" y="11887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CLIENT TIER (Frontend)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71600" y="155448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React 18 • React Router • react-dnd • Speech Recognition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371600" y="182880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</a:rPr>
              <a:t>User Interface • Voice Input • Resume Preview • Export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0" y="2286000"/>
            <a:ext cx="914400" cy="457200"/>
          </a:xfrm>
          <a:prstGeom prst="downArrow">
            <a:avLst/>
          </a:prstGeom>
          <a:solidFill>
            <a:srgbClr val="34495E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0" y="2468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74C3C"/>
                </a:solidFill>
              </a:rPr>
              <a:t>REST API (JSON/HTTP)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371600" y="2926080"/>
            <a:ext cx="6400800" cy="1097280"/>
          </a:xfrm>
          <a:prstGeom prst="rect">
            <a:avLst/>
          </a:prstGeom>
          <a:solidFill>
            <a:srgbClr val="27AE60"/>
          </a:solidFill>
          <a:ln w="38100">
            <a:solidFill>
              <a:srgbClr val="22995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30175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APPLICATION TIER (Backend)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71600" y="338328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Express.js • Node.js • Mongoose ODM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371600" y="365760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</a:rPr>
              <a:t>Controllers • Routes • Services (AI, Export)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0" y="4114800"/>
            <a:ext cx="914400" cy="457200"/>
          </a:xfrm>
          <a:prstGeom prst="downArrow">
            <a:avLst/>
          </a:prstGeom>
          <a:solidFill>
            <a:srgbClr val="34495E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0" y="42976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74C3C"/>
                </a:solidFill>
              </a:rPr>
              <a:t>MongoDB Protocol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371600" y="4754880"/>
            <a:ext cx="6400800" cy="914400"/>
          </a:xfrm>
          <a:prstGeom prst="rect">
            <a:avLst/>
          </a:prstGeom>
          <a:solidFill>
            <a:srgbClr val="E74C3C"/>
          </a:solidFill>
          <a:ln w="38100">
            <a:solidFill>
              <a:srgbClr val="C039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71600" y="48463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DATA TIER (Database)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71600" y="521208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MongoDB • Resumes Collection • Templates Collection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3E50"/>
                </a:solidFill>
              </a:rPr>
              <a:t>Component 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74320" y="1005840"/>
            <a:ext cx="4114800" cy="4297680"/>
          </a:xfrm>
          <a:prstGeom prst="rect">
            <a:avLst/>
          </a:prstGeom>
          <a:solidFill>
            <a:srgbClr val="E3F2FD"/>
          </a:solidFill>
          <a:ln w="25400">
            <a:solidFill>
              <a:srgbClr val="1976D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65C0"/>
                </a:solidFill>
              </a:rPr>
              <a:t>FRONTEND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3749040" cy="731520"/>
          </a:xfrm>
          <a:prstGeom prst="rect">
            <a:avLst/>
          </a:prstGeom>
          <a:solidFill>
            <a:srgbClr val="2196F3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0020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Pages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8745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Home • VoiceInput • ResumeBuilder • MyResumes • Templates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3749040" cy="914400"/>
          </a:xfrm>
          <a:prstGeom prst="rect">
            <a:avLst/>
          </a:prstGeom>
          <a:solidFill>
            <a:srgbClr val="42A5F5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42316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Components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697480"/>
            <a:ext cx="356616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VoiceRecorder • ResumePreview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48640" y="2834640"/>
            <a:ext cx="356616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DraggableSection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48640" y="2971800"/>
            <a:ext cx="356616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Common: Button, Card, Modal,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48640" y="3108960"/>
            <a:ext cx="356616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Header, LoadingSpinner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57200" y="3383280"/>
            <a:ext cx="3749040" cy="548640"/>
          </a:xfrm>
          <a:prstGeom prst="rect">
            <a:avLst/>
          </a:prstGeom>
          <a:solidFill>
            <a:srgbClr val="64B5F6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42900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Services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365760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API Client (Axios) • HTTP Interceptors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4023360"/>
            <a:ext cx="3749040" cy="457200"/>
          </a:xfrm>
          <a:prstGeom prst="rect">
            <a:avLst/>
          </a:prstGeom>
          <a:solidFill>
            <a:srgbClr val="90CAF9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1148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47A1"/>
                </a:solidFill>
              </a:rPr>
              <a:t>Routing: React Router v6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4572000"/>
            <a:ext cx="3749040" cy="548640"/>
          </a:xfrm>
          <a:prstGeom prst="rect">
            <a:avLst/>
          </a:prstGeom>
          <a:solidFill>
            <a:srgbClr val="BBDEFB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461772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47A1"/>
                </a:solidFill>
              </a:rPr>
              <a:t>State Management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489204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565C0"/>
                </a:solidFill>
              </a:rPr>
              <a:t>React Hooks (useState, useEffect)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754880" y="1005840"/>
            <a:ext cx="4114800" cy="4297680"/>
          </a:xfrm>
          <a:prstGeom prst="rect">
            <a:avLst/>
          </a:prstGeom>
          <a:solidFill>
            <a:srgbClr val="F3E5F5"/>
          </a:solidFill>
          <a:ln w="25400">
            <a:solidFill>
              <a:srgbClr val="7B1FA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10972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A1B9A"/>
                </a:solidFill>
              </a:rPr>
              <a:t>BACKEND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937760" y="1554480"/>
            <a:ext cx="3749040" cy="548640"/>
          </a:xfrm>
          <a:prstGeom prst="rect">
            <a:avLst/>
          </a:prstGeom>
          <a:solidFill>
            <a:srgbClr val="9C27B0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0" y="160020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Routes (API Endpoints)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029200" y="187452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/resumes • /ai • /templates • /export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937760" y="2194560"/>
            <a:ext cx="3749040" cy="731520"/>
          </a:xfrm>
          <a:prstGeom prst="rect">
            <a:avLst/>
          </a:prstGeom>
          <a:solidFill>
            <a:srgbClr val="AB47BC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0" y="224028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Controllers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029200" y="2514600"/>
            <a:ext cx="35661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aiController • resumeController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029200" y="2679192"/>
            <a:ext cx="35661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templateController • exportController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937760" y="3017520"/>
            <a:ext cx="3749040" cy="822960"/>
          </a:xfrm>
          <a:prstGeom prst="rect">
            <a:avLst/>
          </a:prstGeom>
          <a:solidFill>
            <a:srgbClr val="BA68C8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0" y="306324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Services (Business Logic)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029200" y="3337560"/>
            <a:ext cx="35661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• AI Service (OpenAI/Ollama)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029200" y="3483864"/>
            <a:ext cx="35661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• Export Service (PDF/Word)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029200" y="3630168"/>
            <a:ext cx="35661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• Validation &amp; Processing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937760" y="3931920"/>
            <a:ext cx="3749040" cy="640080"/>
          </a:xfrm>
          <a:prstGeom prst="rect">
            <a:avLst/>
          </a:prstGeom>
          <a:solidFill>
            <a:srgbClr val="CE93D8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0" y="397764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148C"/>
                </a:solidFill>
              </a:rPr>
              <a:t>Models (Mongoose Schemas)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029200" y="425196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1B9A"/>
                </a:solidFill>
              </a:rPr>
              <a:t>Resume Schema • Template Schema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937760" y="4663440"/>
            <a:ext cx="3749040" cy="457200"/>
          </a:xfrm>
          <a:prstGeom prst="rect">
            <a:avLst/>
          </a:prstGeom>
          <a:solidFill>
            <a:srgbClr val="E1BEE7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29200" y="47548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148C"/>
                </a:solidFill>
              </a:rPr>
              <a:t>Middleware: CORS • Helmet • Validator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3E50"/>
                </a:solidFill>
              </a:rPr>
              <a:t>Voice to Resume - Complete Flow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14400" y="914400"/>
            <a:ext cx="457200" cy="457200"/>
          </a:xfrm>
          <a:prstGeom prst="ellipse">
            <a:avLst/>
          </a:prstGeom>
          <a:solidFill>
            <a:srgbClr val="3498DB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914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554480" y="960120"/>
            <a:ext cx="7132320" cy="365760"/>
          </a:xfrm>
          <a:prstGeom prst="rect">
            <a:avLst/>
          </a:prstGeom>
          <a:solidFill>
            <a:srgbClr val="000000"/>
          </a:solidFill>
          <a:ln w="25400">
            <a:solidFill>
              <a:srgbClr val="3498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737360" y="1005840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98DB"/>
                </a:solidFill>
              </a:rPr>
              <a:t>User speaks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51560" y="1389888"/>
            <a:ext cx="182880" cy="73152"/>
          </a:xfrm>
          <a:prstGeom prst="downArrow">
            <a:avLst/>
          </a:prstGeom>
          <a:solidFill>
            <a:srgbClr val="34495E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1463040"/>
            <a:ext cx="457200" cy="457200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554480" y="1508760"/>
            <a:ext cx="7132320" cy="365760"/>
          </a:xfrm>
          <a:prstGeom prst="rect">
            <a:avLst/>
          </a:prstGeom>
          <a:solidFill>
            <a:srgbClr val="000000"/>
          </a:solidFill>
          <a:ln w="25400">
            <a:solidFill>
              <a:srgbClr val="2ECC7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37360" y="1554480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CC71"/>
                </a:solidFill>
              </a:rPr>
              <a:t>Browser Speech API transcribes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051560" y="1938528"/>
            <a:ext cx="182880" cy="73152"/>
          </a:xfrm>
          <a:prstGeom prst="downArrow">
            <a:avLst/>
          </a:prstGeom>
          <a:solidFill>
            <a:srgbClr val="34495E"/>
          </a:solidFill>
          <a:ln/>
        </p:spPr>
      </p:sp>
      <p:sp>
        <p:nvSpPr>
          <p:cNvPr id="13" name="Shape 11"/>
          <p:cNvSpPr/>
          <p:nvPr/>
        </p:nvSpPr>
        <p:spPr>
          <a:xfrm>
            <a:off x="914400" y="2011680"/>
            <a:ext cx="457200" cy="457200"/>
          </a:xfrm>
          <a:prstGeom prst="ellipse">
            <a:avLst/>
          </a:prstGeom>
          <a:solidFill>
            <a:srgbClr val="9B59B6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554480" y="2057400"/>
            <a:ext cx="7132320" cy="365760"/>
          </a:xfrm>
          <a:prstGeom prst="rect">
            <a:avLst/>
          </a:prstGeom>
          <a:solidFill>
            <a:srgbClr val="000000"/>
          </a:solidFill>
          <a:ln w="25400">
            <a:solidFill>
              <a:srgbClr val="9B59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737360" y="2103120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B59B6"/>
                </a:solidFill>
              </a:rPr>
              <a:t>POST /api/ai/process-voice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051560" y="2487168"/>
            <a:ext cx="182880" cy="73152"/>
          </a:xfrm>
          <a:prstGeom prst="downArrow">
            <a:avLst/>
          </a:prstGeom>
          <a:solidFill>
            <a:srgbClr val="34495E"/>
          </a:solidFill>
          <a:ln/>
        </p:spPr>
      </p:sp>
      <p:sp>
        <p:nvSpPr>
          <p:cNvPr id="18" name="Shape 16"/>
          <p:cNvSpPr/>
          <p:nvPr/>
        </p:nvSpPr>
        <p:spPr>
          <a:xfrm>
            <a:off x="914400" y="2560320"/>
            <a:ext cx="457200" cy="45720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554480" y="2606040"/>
            <a:ext cx="7132320" cy="365760"/>
          </a:xfrm>
          <a:prstGeom prst="rect">
            <a:avLst/>
          </a:prstGeom>
          <a:solidFill>
            <a:srgbClr val="000000"/>
          </a:solidFill>
          <a:ln w="25400">
            <a:solidFill>
              <a:srgbClr val="E67E2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737360" y="2651760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7E22"/>
                </a:solidFill>
              </a:rPr>
              <a:t>AI Service extracts data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1051560" y="3035808"/>
            <a:ext cx="182880" cy="73152"/>
          </a:xfrm>
          <a:prstGeom prst="downArrow">
            <a:avLst/>
          </a:prstGeom>
          <a:solidFill>
            <a:srgbClr val="34495E"/>
          </a:solidFill>
          <a:ln/>
        </p:spPr>
      </p:sp>
      <p:sp>
        <p:nvSpPr>
          <p:cNvPr id="23" name="Shape 21"/>
          <p:cNvSpPr/>
          <p:nvPr/>
        </p:nvSpPr>
        <p:spPr>
          <a:xfrm>
            <a:off x="914400" y="3108960"/>
            <a:ext cx="457200" cy="45720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" y="3108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554480" y="3154680"/>
            <a:ext cx="7132320" cy="365760"/>
          </a:xfrm>
          <a:prstGeom prst="rect">
            <a:avLst/>
          </a:prstGeom>
          <a:solidFill>
            <a:srgbClr val="000000"/>
          </a:solidFill>
          <a:ln w="25400">
            <a:solidFill>
              <a:srgbClr val="E74C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737360" y="3200400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4C3C"/>
                </a:solidFill>
              </a:rPr>
              <a:t>OpenAI/Ollama processes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1051560" y="3584448"/>
            <a:ext cx="182880" cy="73152"/>
          </a:xfrm>
          <a:prstGeom prst="downArrow">
            <a:avLst/>
          </a:prstGeom>
          <a:solidFill>
            <a:srgbClr val="34495E"/>
          </a:solidFill>
          <a:ln/>
        </p:spPr>
      </p:sp>
      <p:sp>
        <p:nvSpPr>
          <p:cNvPr id="28" name="Shape 26"/>
          <p:cNvSpPr/>
          <p:nvPr/>
        </p:nvSpPr>
        <p:spPr>
          <a:xfrm>
            <a:off x="914400" y="3657600"/>
            <a:ext cx="457200" cy="457200"/>
          </a:xfrm>
          <a:prstGeom prst="ellipse">
            <a:avLst/>
          </a:prstGeom>
          <a:solidFill>
            <a:srgbClr val="1ABC9C"/>
          </a:solidFill>
          <a:ln/>
        </p:spPr>
      </p:sp>
      <p:sp>
        <p:nvSpPr>
          <p:cNvPr id="29" name="Text 27"/>
          <p:cNvSpPr/>
          <p:nvPr/>
        </p:nvSpPr>
        <p:spPr>
          <a:xfrm>
            <a:off x="914400" y="3657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6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1554480" y="3703320"/>
            <a:ext cx="7132320" cy="365760"/>
          </a:xfrm>
          <a:prstGeom prst="rect">
            <a:avLst/>
          </a:prstGeom>
          <a:solidFill>
            <a:srgbClr val="000000"/>
          </a:solidFill>
          <a:ln w="25400">
            <a:solidFill>
              <a:srgbClr val="1ABC9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737360" y="3749040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BC9C"/>
                </a:solidFill>
              </a:rPr>
              <a:t>Returns structured JSON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1051560" y="4133088"/>
            <a:ext cx="182880" cy="73152"/>
          </a:xfrm>
          <a:prstGeom prst="downArrow">
            <a:avLst/>
          </a:prstGeom>
          <a:solidFill>
            <a:srgbClr val="34495E"/>
          </a:solidFill>
          <a:ln/>
        </p:spPr>
      </p:sp>
      <p:sp>
        <p:nvSpPr>
          <p:cNvPr id="33" name="Shape 31"/>
          <p:cNvSpPr/>
          <p:nvPr/>
        </p:nvSpPr>
        <p:spPr>
          <a:xfrm>
            <a:off x="914400" y="4206240"/>
            <a:ext cx="457200" cy="457200"/>
          </a:xfrm>
          <a:prstGeom prst="ellipse">
            <a:avLst/>
          </a:prstGeom>
          <a:solidFill>
            <a:srgbClr val="34495E"/>
          </a:solidFill>
          <a:ln/>
        </p:spPr>
      </p:sp>
      <p:sp>
        <p:nvSpPr>
          <p:cNvPr id="34" name="Text 32"/>
          <p:cNvSpPr/>
          <p:nvPr/>
        </p:nvSpPr>
        <p:spPr>
          <a:xfrm>
            <a:off x="914400" y="4206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7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1554480" y="4251960"/>
            <a:ext cx="7132320" cy="365760"/>
          </a:xfrm>
          <a:prstGeom prst="rect">
            <a:avLst/>
          </a:prstGeom>
          <a:solidFill>
            <a:srgbClr val="000000"/>
          </a:solidFill>
          <a:ln w="25400">
            <a:solidFill>
              <a:srgbClr val="34495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737360" y="4297680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495E"/>
                </a:solidFill>
              </a:rPr>
              <a:t>Resume Builder displays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1051560" y="4681728"/>
            <a:ext cx="182880" cy="73152"/>
          </a:xfrm>
          <a:prstGeom prst="downArrow">
            <a:avLst/>
          </a:prstGeom>
          <a:solidFill>
            <a:srgbClr val="34495E"/>
          </a:solidFill>
          <a:ln/>
        </p:spPr>
      </p:sp>
      <p:sp>
        <p:nvSpPr>
          <p:cNvPr id="38" name="Shape 36"/>
          <p:cNvSpPr/>
          <p:nvPr/>
        </p:nvSpPr>
        <p:spPr>
          <a:xfrm>
            <a:off x="914400" y="4754880"/>
            <a:ext cx="457200" cy="457200"/>
          </a:xfrm>
          <a:prstGeom prst="ellipse">
            <a:avLst/>
          </a:prstGeom>
          <a:solidFill>
            <a:srgbClr val="95A5A6"/>
          </a:solidFill>
          <a:ln/>
        </p:spPr>
      </p:sp>
      <p:sp>
        <p:nvSpPr>
          <p:cNvPr id="39" name="Text 37"/>
          <p:cNvSpPr/>
          <p:nvPr/>
        </p:nvSpPr>
        <p:spPr>
          <a:xfrm>
            <a:off x="914400" y="4754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8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1554480" y="4800600"/>
            <a:ext cx="7132320" cy="365760"/>
          </a:xfrm>
          <a:prstGeom prst="rect">
            <a:avLst/>
          </a:prstGeom>
          <a:solidFill>
            <a:srgbClr val="000000"/>
          </a:solidFill>
          <a:ln w="25400">
            <a:solidFill>
              <a:srgbClr val="95A5A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737360" y="4846320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5A5A6"/>
                </a:solidFill>
              </a:rPr>
              <a:t>User saves to MongoDB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3E50"/>
                </a:solidFill>
              </a:rPr>
              <a:t>Data Flow: User → Database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097280" cy="1097280"/>
          </a:xfrm>
          <a:prstGeom prst="ellipse">
            <a:avLst/>
          </a:prstGeom>
          <a:solidFill>
            <a:srgbClr val="3498D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55448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👤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USER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645920" y="1828800"/>
            <a:ext cx="640080" cy="274320"/>
          </a:xfrm>
          <a:prstGeom prst="rightArrow">
            <a:avLst/>
          </a:prstGeom>
          <a:solidFill>
            <a:srgbClr val="34495E"/>
          </a:solidFill>
          <a:ln/>
        </p:spPr>
      </p:sp>
      <p:sp>
        <p:nvSpPr>
          <p:cNvPr id="6" name="Text 4"/>
          <p:cNvSpPr/>
          <p:nvPr/>
        </p:nvSpPr>
        <p:spPr>
          <a:xfrm>
            <a:off x="1645920" y="160020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74C3C"/>
                </a:solidFill>
              </a:rPr>
              <a:t>Voice/Text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377440" y="1188720"/>
            <a:ext cx="1371600" cy="1463040"/>
          </a:xfrm>
          <a:prstGeom prst="rect">
            <a:avLst/>
          </a:prstGeom>
          <a:solidFill>
            <a:srgbClr val="2ECC71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68880" y="12801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FRONTEND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468880" y="164592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• Capture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468880" y="1837944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• Validate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468880" y="2029968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• Display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468880" y="2221992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• Preview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840480" y="1828800"/>
            <a:ext cx="640080" cy="274320"/>
          </a:xfrm>
          <a:prstGeom prst="rightArrow">
            <a:avLst/>
          </a:prstGeom>
          <a:solidFill>
            <a:srgbClr val="34495E"/>
          </a:solidFill>
          <a:ln/>
        </p:spPr>
      </p:sp>
      <p:sp>
        <p:nvSpPr>
          <p:cNvPr id="14" name="Text 12"/>
          <p:cNvSpPr/>
          <p:nvPr/>
        </p:nvSpPr>
        <p:spPr>
          <a:xfrm>
            <a:off x="3840480" y="160020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74C3C"/>
                </a:solidFill>
              </a:rPr>
              <a:t>REST API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0" y="1188720"/>
            <a:ext cx="1371600" cy="1463040"/>
          </a:xfrm>
          <a:prstGeom prst="rect">
            <a:avLst/>
          </a:prstGeom>
          <a:solidFill>
            <a:srgbClr val="E67E22"/>
          </a:solidFill>
          <a:ln w="25400">
            <a:solidFill>
              <a:srgbClr val="D354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12801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BACKEND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663440" y="164592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• Route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663440" y="1837944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• Process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63440" y="2029968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• AI Call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663440" y="2221992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• Transform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217920" y="1463040"/>
            <a:ext cx="1188720" cy="914400"/>
          </a:xfrm>
          <a:prstGeom prst="rect">
            <a:avLst/>
          </a:prstGeom>
          <a:solidFill>
            <a:srgbClr val="9B59B6"/>
          </a:solidFill>
          <a:ln w="25400">
            <a:solidFill>
              <a:srgbClr val="8E44A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09360" y="160020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AI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Service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309360" y="21031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OpenAI/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Ollama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852160" y="1828800"/>
            <a:ext cx="457200" cy="228600"/>
          </a:xfrm>
          <a:prstGeom prst="leftRightArrow">
            <a:avLst/>
          </a:prstGeom>
          <a:solidFill>
            <a:srgbClr val="E74C3C"/>
          </a:solidFill>
          <a:ln/>
        </p:spPr>
      </p:sp>
      <p:sp>
        <p:nvSpPr>
          <p:cNvPr id="25" name="Shape 23"/>
          <p:cNvSpPr/>
          <p:nvPr/>
        </p:nvSpPr>
        <p:spPr>
          <a:xfrm>
            <a:off x="5166360" y="2743200"/>
            <a:ext cx="274320" cy="457200"/>
          </a:xfrm>
          <a:prstGeom prst="downArrow">
            <a:avLst/>
          </a:prstGeom>
          <a:solidFill>
            <a:srgbClr val="34495E"/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278892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74C3C"/>
                </a:solidFill>
              </a:rPr>
              <a:t>Save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54880" y="3291840"/>
            <a:ext cx="1188720" cy="914400"/>
          </a:xfrm>
          <a:prstGeom prst="rect">
            <a:avLst/>
          </a:prstGeom>
          <a:solidFill>
            <a:srgbClr val="E74C3C"/>
          </a:solidFill>
          <a:ln w="25400">
            <a:solidFill>
              <a:srgbClr val="C0392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352044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MongoDB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846320" y="379476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Resumes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Templates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" y="3657600"/>
            <a:ext cx="4206240" cy="320040"/>
          </a:xfrm>
          <a:prstGeom prst="leftArrow">
            <a:avLst/>
          </a:prstGeom>
          <a:solidFill>
            <a:srgbClr val="1ABC9C"/>
          </a:solidFill>
          <a:ln/>
        </p:spPr>
      </p:sp>
      <p:sp>
        <p:nvSpPr>
          <p:cNvPr id="31" name="Text 29"/>
          <p:cNvSpPr/>
          <p:nvPr/>
        </p:nvSpPr>
        <p:spPr>
          <a:xfrm>
            <a:off x="1371600" y="37033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Retrieved Data (JSON)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74320" y="4572000"/>
            <a:ext cx="859536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34495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46634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</a:rPr>
              <a:t>Data Flow Legend: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57200" y="4937760"/>
            <a:ext cx="8229600" cy="100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4495E"/>
                </a:solidFill>
              </a:rPr>
              <a:t>1. User provides voice/text input → Frontend captures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57200" y="5047488"/>
            <a:ext cx="8229600" cy="100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4495E"/>
                </a:solidFill>
              </a:rPr>
              <a:t>2. Frontend sends HTTP request → Backend API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57200" y="5157216"/>
            <a:ext cx="8229600" cy="100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4495E"/>
                </a:solidFill>
              </a:rPr>
              <a:t>3. Backend calls AI Service (OpenAI/Ollama) → Structured data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57200" y="5266944"/>
            <a:ext cx="8229600" cy="100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4495E"/>
                </a:solidFill>
              </a:rPr>
              <a:t>4. Backend saves to MongoDB → Response to Frontend → User sees result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3E50"/>
                </a:solidFill>
              </a:rPr>
              <a:t>Export Flow: Resume → PDF/Word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286000" cy="548640"/>
          </a:xfrm>
          <a:prstGeom prst="roundRect">
            <a:avLst/>
          </a:prstGeom>
          <a:solidFill>
            <a:srgbClr val="3498D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887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User clicks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"Export as PDF/Word"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463040" y="1737360"/>
            <a:ext cx="274320" cy="365760"/>
          </a:xfrm>
          <a:prstGeom prst="downArrow">
            <a:avLst/>
          </a:prstGeom>
          <a:solidFill>
            <a:srgbClr val="34495E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2194560"/>
            <a:ext cx="2286000" cy="640080"/>
          </a:xfrm>
          <a:prstGeom prst="roundRect">
            <a:avLst/>
          </a:prstGeom>
          <a:solidFill>
            <a:srgbClr val="2ECC71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2860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POST Request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/api/export/pdf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or /export/word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834640" y="2468880"/>
            <a:ext cx="640080" cy="274320"/>
          </a:xfrm>
          <a:prstGeom prst="rightArrow">
            <a:avLst/>
          </a:prstGeom>
          <a:solidFill>
            <a:srgbClr val="34495E"/>
          </a:solidFill>
          <a:ln/>
        </p:spPr>
      </p:sp>
      <p:sp>
        <p:nvSpPr>
          <p:cNvPr id="9" name="Shape 7"/>
          <p:cNvSpPr/>
          <p:nvPr/>
        </p:nvSpPr>
        <p:spPr>
          <a:xfrm>
            <a:off x="3566160" y="1097280"/>
            <a:ext cx="2560320" cy="2194560"/>
          </a:xfrm>
          <a:prstGeom prst="rect">
            <a:avLst/>
          </a:prstGeom>
          <a:solidFill>
            <a:srgbClr val="F39C12"/>
          </a:solidFill>
          <a:ln w="25400">
            <a:solidFill>
              <a:srgbClr val="E67E2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0" y="11887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Backend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Export Service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749040" y="1645920"/>
            <a:ext cx="21945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1. Receive resume data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749040" y="1792224"/>
            <a:ext cx="21945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2. Select template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749040" y="1938528"/>
            <a:ext cx="21945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3. Generate HTML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749040" y="2084832"/>
            <a:ext cx="21945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4. Render to PDF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749040" y="2231136"/>
            <a:ext cx="21945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   (Puppeteer)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749040" y="2377440"/>
            <a:ext cx="21945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749040" y="2523744"/>
            <a:ext cx="21945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5. Generate .docx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749040" y="2670048"/>
            <a:ext cx="21945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   (docx library)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217920" y="1645920"/>
            <a:ext cx="548640" cy="274320"/>
          </a:xfrm>
          <a:prstGeom prst="rightArrow">
            <a:avLst/>
          </a:prstGeom>
          <a:solidFill>
            <a:srgbClr val="E74C3C"/>
          </a:solidFill>
          <a:ln/>
        </p:spPr>
      </p:sp>
      <p:sp>
        <p:nvSpPr>
          <p:cNvPr id="20" name="Shape 18"/>
          <p:cNvSpPr/>
          <p:nvPr/>
        </p:nvSpPr>
        <p:spPr>
          <a:xfrm>
            <a:off x="6858000" y="1371600"/>
            <a:ext cx="1828800" cy="822960"/>
          </a:xfrm>
          <a:prstGeom prst="rect">
            <a:avLst/>
          </a:prstGeom>
          <a:solidFill>
            <a:srgbClr val="E74C3C"/>
          </a:solidFill>
          <a:ln w="25400">
            <a:solidFill>
              <a:srgbClr val="C039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0" y="14630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📄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Puppeteer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858000" y="19659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Headless Browser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HTML → PDF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6217920" y="2560320"/>
            <a:ext cx="548640" cy="274320"/>
          </a:xfrm>
          <a:prstGeom prst="rightArrow">
            <a:avLst/>
          </a:prstGeom>
          <a:solidFill>
            <a:srgbClr val="E74C3C"/>
          </a:solidFill>
          <a:ln/>
        </p:spPr>
      </p:sp>
      <p:sp>
        <p:nvSpPr>
          <p:cNvPr id="24" name="Shape 22"/>
          <p:cNvSpPr/>
          <p:nvPr/>
        </p:nvSpPr>
        <p:spPr>
          <a:xfrm>
            <a:off x="6858000" y="2286000"/>
            <a:ext cx="1828800" cy="822960"/>
          </a:xfrm>
          <a:prstGeom prst="rect">
            <a:avLst/>
          </a:prstGeom>
          <a:solidFill>
            <a:srgbClr val="9B59B6"/>
          </a:solidFill>
          <a:ln w="25400">
            <a:solidFill>
              <a:srgbClr val="8E44A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0" y="23774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📝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docx Library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858000" y="28803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Create .docx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Document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7680960" y="3200400"/>
            <a:ext cx="274320" cy="457200"/>
          </a:xfrm>
          <a:prstGeom prst="downArrow">
            <a:avLst/>
          </a:prstGeom>
          <a:solidFill>
            <a:srgbClr val="34495E"/>
          </a:solidFill>
          <a:ln/>
        </p:spPr>
      </p:sp>
      <p:sp>
        <p:nvSpPr>
          <p:cNvPr id="28" name="Shape 26"/>
          <p:cNvSpPr/>
          <p:nvPr/>
        </p:nvSpPr>
        <p:spPr>
          <a:xfrm>
            <a:off x="6583680" y="3749040"/>
            <a:ext cx="2286000" cy="640080"/>
          </a:xfrm>
          <a:prstGeom prst="roundRect">
            <a:avLst/>
          </a:prstGeom>
          <a:solidFill>
            <a:srgbClr val="1ABC9C"/>
          </a:solidFill>
          <a:ln/>
        </p:spPr>
      </p:sp>
      <p:sp>
        <p:nvSpPr>
          <p:cNvPr id="29" name="Text 27"/>
          <p:cNvSpPr/>
          <p:nvPr/>
        </p:nvSpPr>
        <p:spPr>
          <a:xfrm>
            <a:off x="6583680" y="38404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Binary File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Returned to Client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7200" y="3977640"/>
            <a:ext cx="6035040" cy="320040"/>
          </a:xfrm>
          <a:prstGeom prst="leftArrow">
            <a:avLst/>
          </a:prstGeom>
          <a:solidFill>
            <a:srgbClr val="16A085"/>
          </a:solidFill>
          <a:ln/>
        </p:spPr>
      </p:sp>
      <p:sp>
        <p:nvSpPr>
          <p:cNvPr id="31" name="Text 29"/>
          <p:cNvSpPr/>
          <p:nvPr/>
        </p:nvSpPr>
        <p:spPr>
          <a:xfrm>
            <a:off x="2286000" y="40233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Browser Downloads File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57200" y="4572000"/>
            <a:ext cx="2286000" cy="731520"/>
          </a:xfrm>
          <a:prstGeom prst="ellipse">
            <a:avLst/>
          </a:prstGeom>
          <a:solidFill>
            <a:srgbClr val="2C3E50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46634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✓ resume.pdf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or resume.docx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3E50"/>
                </a:solidFill>
              </a:rPr>
              <a:t>Database Schema (MongoDB)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74320" y="914400"/>
            <a:ext cx="4206240" cy="4389120"/>
          </a:xfrm>
          <a:prstGeom prst="rect">
            <a:avLst/>
          </a:prstGeom>
          <a:solidFill>
            <a:srgbClr val="E8F5E9"/>
          </a:solidFill>
          <a:ln w="38100">
            <a:solidFill>
              <a:srgbClr val="4CAF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7D32"/>
                </a:solidFill>
              </a:rPr>
              <a:t>Resume Collection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5E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_id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920240" y="14630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651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ObjectId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926080" y="14630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424242"/>
                </a:solidFill>
              </a:rPr>
              <a:t>Auto-generated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457200" y="1728216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5E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personalInfo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920240" y="1728216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651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926080" y="1728216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424242"/>
                </a:solidFill>
              </a:rPr>
              <a:t>name, email, phone...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457200" y="199339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5E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experience[]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920240" y="199339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651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926080" y="199339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424242"/>
                </a:solidFill>
              </a:rPr>
              <a:t>Work history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457200" y="225856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5E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education[]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920240" y="225856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651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926080" y="225856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424242"/>
                </a:solidFill>
              </a:rPr>
              <a:t>Academic background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457200" y="2523744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5E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skills[]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920240" y="2523744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651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926080" y="2523744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424242"/>
                </a:solidFill>
              </a:rPr>
              <a:t>Categorized skills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457200" y="27889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5E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projects[]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920240" y="27889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651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926080" y="27889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424242"/>
                </a:solidFill>
              </a:rPr>
              <a:t>Personal projects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457200" y="3054096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5E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certifications[]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920240" y="3054096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651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926080" y="3054096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424242"/>
                </a:solidFill>
              </a:rPr>
              <a:t>Certificates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457200" y="331927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5E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achievements[]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920240" y="331927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651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2926080" y="331927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424242"/>
                </a:solidFill>
              </a:rPr>
              <a:t>Accomplishments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457200" y="358444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5E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templateId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920240" y="358444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651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2926080" y="358444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424242"/>
                </a:solidFill>
              </a:rPr>
              <a:t>Template reference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457200" y="3849624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5E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layout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920240" y="3849624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651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2926080" y="3849624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424242"/>
                </a:solidFill>
              </a:rPr>
              <a:t>Custom layout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457200" y="41148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5E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transcriptions[]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920240" y="41148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651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2926080" y="41148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424242"/>
                </a:solidFill>
              </a:rPr>
              <a:t>Voice history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457200" y="4379976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5E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createdAt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920240" y="4379976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651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2926080" y="4379976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424242"/>
                </a:solidFill>
              </a:rPr>
              <a:t>Creation timestamp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457200" y="464515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5E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updatedAt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920240" y="464515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651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2926080" y="464515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424242"/>
                </a:solidFill>
              </a:rPr>
              <a:t>Last modified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4663440" y="914400"/>
            <a:ext cx="4206240" cy="2560320"/>
          </a:xfrm>
          <a:prstGeom prst="rect">
            <a:avLst/>
          </a:prstGeom>
          <a:solidFill>
            <a:srgbClr val="FCE4EC"/>
          </a:solidFill>
          <a:ln w="38100">
            <a:solidFill>
              <a:srgbClr val="E91E6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46320" y="10058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2185B"/>
                </a:solidFill>
              </a:rPr>
              <a:t>Template Collection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4846320" y="146304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80E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_id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309360" y="146304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651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ObjectId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7223760" y="146304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424242"/>
                </a:solidFill>
              </a:rPr>
              <a:t>Auto-generated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4846320" y="169164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80E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309360" y="169164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651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7223760" y="169164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424242"/>
                </a:solidFill>
              </a:rPr>
              <a:t>Unique ID (modern)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4846320" y="192024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80E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309360" y="192024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651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7223760" y="192024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424242"/>
                </a:solidFill>
              </a:rPr>
              <a:t>Display name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4846320" y="214884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80E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6309360" y="214884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651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7223760" y="214884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424242"/>
                </a:solidFill>
              </a:rPr>
              <a:t>Template desc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4846320" y="237744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80E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category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6309360" y="237744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651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7223760" y="237744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424242"/>
                </a:solidFill>
              </a:rPr>
              <a:t>modern/classic...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4846320" y="260604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80E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layout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6309360" y="260604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651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7223760" y="260604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424242"/>
                </a:solidFill>
              </a:rPr>
              <a:t>Layout config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4846320" y="283464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80E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styles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6309360" y="283464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651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7223760" y="283464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424242"/>
                </a:solidFill>
              </a:rPr>
              <a:t>CSS properties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4846320" y="306324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80E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thumbnail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6309360" y="306324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651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7223760" y="306324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424242"/>
                </a:solidFill>
              </a:rPr>
              <a:t>Preview image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4846320" y="329184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80E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isActive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6309360" y="329184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651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Boolean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7223760" y="329184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424242"/>
                </a:solidFill>
              </a:rPr>
              <a:t>Available flag</a:t>
            </a:r>
            <a:endParaRPr lang="en-US" sz="700" dirty="0"/>
          </a:p>
        </p:txBody>
      </p:sp>
      <p:sp>
        <p:nvSpPr>
          <p:cNvPr id="73" name="Text 71"/>
          <p:cNvSpPr/>
          <p:nvPr/>
        </p:nvSpPr>
        <p:spPr>
          <a:xfrm>
            <a:off x="4846320" y="352044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80E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createdAt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6309360" y="352044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651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7223760" y="352044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424242"/>
                </a:solidFill>
              </a:rPr>
              <a:t>Creation time</a:t>
            </a:r>
            <a:endParaRPr lang="en-US" sz="700" dirty="0"/>
          </a:p>
        </p:txBody>
      </p:sp>
      <p:sp>
        <p:nvSpPr>
          <p:cNvPr id="76" name="Shape 74"/>
          <p:cNvSpPr/>
          <p:nvPr/>
        </p:nvSpPr>
        <p:spPr>
          <a:xfrm>
            <a:off x="4663440" y="3657600"/>
            <a:ext cx="4206240" cy="1645920"/>
          </a:xfrm>
          <a:prstGeom prst="rect">
            <a:avLst/>
          </a:prstGeom>
          <a:solidFill>
            <a:srgbClr val="FFF9C4"/>
          </a:solidFill>
          <a:ln w="25400">
            <a:solidFill>
              <a:srgbClr val="FBC02D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846320" y="37490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7F17"/>
                </a:solidFill>
              </a:rPr>
              <a:t>Relationship</a:t>
            </a:r>
            <a:endParaRPr lang="en-US" sz="1400" dirty="0"/>
          </a:p>
        </p:txBody>
      </p:sp>
      <p:sp>
        <p:nvSpPr>
          <p:cNvPr id="78" name="Text 76"/>
          <p:cNvSpPr/>
          <p:nvPr/>
        </p:nvSpPr>
        <p:spPr>
          <a:xfrm>
            <a:off x="4846320" y="41148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242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Resume.templateId → Template.id</a:t>
            </a:r>
            <a:endParaRPr lang="en-US" sz="1200" dirty="0"/>
          </a:p>
        </p:txBody>
      </p:sp>
      <p:sp>
        <p:nvSpPr>
          <p:cNvPr id="79" name="Text 77"/>
          <p:cNvSpPr/>
          <p:nvPr/>
        </p:nvSpPr>
        <p:spPr>
          <a:xfrm>
            <a:off x="4937760" y="448056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24242"/>
                </a:solidFill>
              </a:rPr>
              <a:t>• Soft reference (no foreign key)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4937760" y="4654296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24242"/>
                </a:solidFill>
              </a:rPr>
              <a:t>• Templates referenced by string ID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4937760" y="4828032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24242"/>
                </a:solidFill>
              </a:rPr>
              <a:t>• One template → Many resumes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4937760" y="5001768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24242"/>
                </a:solidFill>
              </a:rPr>
              <a:t>• NoSQL flexibility for schema evolution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3E50"/>
                </a:solidFill>
              </a:rPr>
              <a:t>Security 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74320" y="1005840"/>
            <a:ext cx="8595360" cy="685800"/>
          </a:xfrm>
          <a:prstGeom prst="rect">
            <a:avLst/>
          </a:prstGeom>
          <a:solidFill>
            <a:srgbClr val="3498D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515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TRANSPORT LAYER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HTTPS/TLS 1.3  •  Encrypted Communication  •  Certificate Validation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1828800"/>
            <a:ext cx="8595360" cy="685800"/>
          </a:xfrm>
          <a:prstGeom prst="rect">
            <a:avLst/>
          </a:prstGeom>
          <a:solidFill>
            <a:srgbClr val="2ECC7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874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FRONTEND SECURITY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194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XSS Prevention (React escaping)  •  Content Security Policy  •  No sensitive data in localStorage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2651760"/>
            <a:ext cx="8595360" cy="685800"/>
          </a:xfrm>
          <a:prstGeom prst="rect">
            <a:avLst/>
          </a:prstGeom>
          <a:solidFill>
            <a:srgbClr val="E67E2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697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API LAYER SECURITY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017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Helmet.js (HTTP Headers)  •  CORS Configuration  •  Rate Limiting  •  Input Validation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3474720"/>
            <a:ext cx="8595360" cy="685800"/>
          </a:xfrm>
          <a:prstGeom prst="rect">
            <a:avLst/>
          </a:prstGeom>
          <a:solidFill>
            <a:srgbClr val="9B59B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520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APPLICATION SECURITY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JWT Authentication (Future)  •  bcrypt Password Hashing  •  Express Validator  •  SQL Injection Prevention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4297680"/>
            <a:ext cx="8595360" cy="685800"/>
          </a:xfrm>
          <a:prstGeom prst="rect">
            <a:avLst/>
          </a:prstGeom>
          <a:solidFill>
            <a:srgbClr val="E74C3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3434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DATABASE SECURITY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MongoDB Authentication  •  Network Restrictions  •  Encrypted Connections  •  Regular Backups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2025-11-28T11:06:40Z</dcterms:created>
  <dcterms:modified xsi:type="dcterms:W3CDTF">2025-11-28T11:06:40Z</dcterms:modified>
</cp:coreProperties>
</file>